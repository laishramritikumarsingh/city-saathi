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79" r:id="rId22"/>
    <p:sldId id="280" r:id="rId23"/>
    <p:sldId id="281" r:id="rId24"/>
    <p:sldId id="278" r:id="rId18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C0BF3F-4BAC-4974-A533-402E7BB5857E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8" Type="http://schemas.openxmlformats.org/officeDocument/2006/relationships/slide" Target="slides/slide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1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3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7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body" idx="1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 extrusionOk="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1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 extrusionOk="0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 u="none" strike="noStrike" cap="none">
                <a:solidFill>
                  <a:srgbClr val="40404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type="body" idx="1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5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dt" idx="10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38100" lvl="1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38100" lvl="2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38100" lvl="3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8100" lvl="4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8100" lvl="5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8100" lvl="6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8100" lvl="7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100" lvl="8" indent="0">
              <a:lnSpc>
                <a:spcPct val="104000"/>
              </a:lnSpc>
              <a:spcBef>
                <a:spcPts val="0"/>
              </a:spcBef>
              <a:buNone/>
              <a:defRPr sz="1050" b="0" i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4763" y="1576450"/>
            <a:ext cx="12187555" cy="866775"/>
          </a:xfrm>
          <a:custGeom>
            <a:avLst/>
            <a:gdLst/>
            <a:ahLst/>
            <a:cxnLst/>
            <a:rect l="l" t="t" r="r" b="b"/>
            <a:pathLst>
              <a:path w="12187555" h="866775" extrusionOk="0">
                <a:moveTo>
                  <a:pt x="12187236" y="0"/>
                </a:moveTo>
                <a:lnTo>
                  <a:pt x="0" y="0"/>
                </a:lnTo>
                <a:lnTo>
                  <a:pt x="0" y="866775"/>
                </a:lnTo>
                <a:lnTo>
                  <a:pt x="12187236" y="866775"/>
                </a:lnTo>
                <a:lnTo>
                  <a:pt x="12187236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956950" y="1769425"/>
            <a:ext cx="63087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FFFFFF"/>
                </a:solidFill>
              </a:rPr>
              <a:t>    </a:t>
            </a:r>
            <a:r>
              <a:rPr lang="en-US" sz="2800">
                <a:solidFill>
                  <a:srgbClr val="FFFFFF"/>
                </a:solidFill>
              </a:rPr>
              <a:t>Department of Computer Applications</a:t>
            </a:r>
            <a:endParaRPr sz="2800"/>
          </a:p>
        </p:txBody>
      </p:sp>
      <p:sp>
        <p:nvSpPr>
          <p:cNvPr id="47" name="Google Shape;47;p7"/>
          <p:cNvSpPr txBox="1"/>
          <p:nvPr/>
        </p:nvSpPr>
        <p:spPr>
          <a:xfrm>
            <a:off x="890900" y="4728874"/>
            <a:ext cx="4400000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Font typeface="Arial" panose="020B0604020202020204"/>
              <a:buNone/>
            </a:pPr>
            <a:r>
              <a:rPr b="1" sz="1700">
                <a:solidFill>
                  <a:srgbClr val="C00000"/>
                </a:solidFill>
                <a:latin typeface="Times New Roman"/>
              </a:rPr>
              <a:t>Student Name: </a:t>
            </a:r>
            <a:r>
              <a:rPr b="1" sz="1700">
                <a:solidFill>
                  <a:srgbClr val="0F172A"/>
                </a:solidFill>
                <a:latin typeface="Arial"/>
              </a:rPr>
              <a:t>Laishram Ritikumar Singh</a:t>
            </a: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b="1" sz="1700">
                <a:solidFill>
                  <a:srgbClr val="C00000"/>
                </a:solidFill>
                <a:latin typeface="Times New Roman"/>
              </a:rPr>
              <a:t>Register Number: </a:t>
            </a:r>
            <a:r>
              <a:rPr sz="1700">
                <a:solidFill>
                  <a:srgbClr val="0F172A"/>
                </a:solidFill>
                <a:latin typeface="Arial"/>
              </a:rPr>
              <a:t>[Your Register Number]</a:t>
            </a:r>
          </a:p>
          <a:p>
            <a:r>
              <a:rPr b="1" sz="1700">
                <a:solidFill>
                  <a:srgbClr val="C00000"/>
                </a:solidFill>
                <a:latin typeface="Times New Roman"/>
              </a:rPr>
              <a:t>Specialization: </a:t>
            </a:r>
            <a:r>
              <a:rPr sz="1700">
                <a:solidFill>
                  <a:srgbClr val="0F172A"/>
                </a:solidFill>
                <a:latin typeface="Arial"/>
              </a:rPr>
              <a:t>Cloud Computing &amp; Full Stack Web Development</a:t>
            </a:r>
          </a:p>
        </p:txBody>
      </p:sp>
      <p:sp>
        <p:nvSpPr>
          <p:cNvPr id="48" name="Google Shape;48;p7"/>
          <p:cNvSpPr txBox="1"/>
          <p:nvPr/>
        </p:nvSpPr>
        <p:spPr>
          <a:xfrm>
            <a:off x="2202561" y="2656268"/>
            <a:ext cx="6825000" cy="185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748030" marR="739140" lvl="0" indent="0" algn="ctr" rtl="0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sz="2200">
                <a:solidFill>
                  <a:srgbClr val="C00000"/>
                </a:solidFill>
                <a:latin typeface="Times New Roman"/>
              </a:rPr>
              <a:t>Strongest Project Presentation</a:t>
            </a:r>
            <a:endParaRPr lang="en-US" sz="20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Aft>
                <a:spcPts val="1200"/>
              </a:spcAft>
            </a:pPr>
            <a:r>
              <a:rPr b="1" sz="1900">
                <a:solidFill>
                  <a:srgbClr val="5A5A5A"/>
                </a:solidFill>
                <a:latin typeface="Times New Roman"/>
              </a:rPr>
              <a:t>BCA, Final Year</a:t>
            </a:r>
          </a:p>
          <a:p>
            <a:r>
              <a:rPr b="1" sz="1700">
                <a:solidFill>
                  <a:srgbClr val="0F172A"/>
                </a:solidFill>
                <a:latin typeface="Times New Roman"/>
              </a:rPr>
              <a:t>Project Title: </a:t>
            </a:r>
            <a:r>
              <a:rPr b="1" sz="1700">
                <a:solidFill>
                  <a:srgbClr val="C00000"/>
                </a:solidFill>
                <a:latin typeface="Times New Roman"/>
              </a:rPr>
              <a:t>CitySaathi – AI-Powered Civic Complaint Management &amp; Resolution Verification System</a:t>
            </a: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715164" y="365413"/>
            <a:ext cx="4700380" cy="6338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1" name="Google Shape;51;p7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Overview &amp; Problem Statement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22960" y="1572768"/>
            <a:ext cx="621792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indent="-146050" algn="l" rtl="0">
              <a:lnSpc>
                <a:spcPct val="130000"/>
              </a:lnSpc>
              <a:spcBef>
                <a:spcPts val="600"/>
              </a:spcBef>
              <a:spcAft>
                <a:spcPts val="500"/>
              </a:spcAft>
              <a:buSzPts val="2000"/>
              <a:buFont typeface="Noto Sans Symbols"/>
              <a:buChar char="▪"/>
            </a:pPr>
            <a:r>
              <a:rPr b="1" sz="1200">
                <a:solidFill>
                  <a:srgbClr val="C00000"/>
                </a:solidFill>
                <a:latin typeface="Arial"/>
              </a:rPr>
              <a:t>Project Title &amp; Type: </a:t>
            </a:r>
            <a:r>
              <a:rPr b="0" sz="1200">
                <a:solidFill>
                  <a:srgbClr val="0F172A"/>
                </a:solidFill>
                <a:latin typeface="Arial"/>
              </a:rPr>
              <a:t>CitySaathi | Academic Final Year Capstone Project (Team of 3 Members)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Problem Statement: </a:t>
            </a:r>
            <a:r>
              <a:rPr b="0" sz="1100">
                <a:solidFill>
                  <a:srgbClr val="0F172A"/>
                </a:solidFill>
                <a:latin typeface="Arial"/>
              </a:rPr>
              <a:t>Municipal helplines suffer from 4 critical failures: misclassified grievances bouncing between departments, duplicate complaint overload for the same issue, zero priority transparency, and 'ghost closures' marked resolved without citizen sign-off.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Why We Built It: </a:t>
            </a:r>
            <a:r>
              <a:rPr b="0" sz="1100">
                <a:solidFill>
                  <a:srgbClr val="0F172A"/>
                </a:solidFill>
                <a:latin typeface="Arial"/>
              </a:rPr>
              <a:t>To build an integrated civic intelligence platform that auto-classifies complaints via NLP, prevents duplicate tickets within 600m radius, provides explainable urgency scores, and enforces mandatory photo-verified citizen resolution loops.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Verifiable Outcomes &amp; Accuracy Metrics: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84.0% Stratified F1 Classifier Accuracy: </a:t>
            </a:r>
            <a:r>
              <a:rPr sz="1050">
                <a:solidFill>
                  <a:srgbClr val="475569"/>
                </a:solidFill>
                <a:latin typeface="Arial"/>
              </a:rPr>
              <a:t>NLP TF-IDF centroid classifier routing across BBMP, BESCOM, BWSSB.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100% Automated QA Tests Passed: </a:t>
            </a:r>
            <a:r>
              <a:rPr sz="1050">
                <a:solidFill>
                  <a:srgbClr val="475569"/>
                </a:solidFill>
                <a:latin typeface="Arial"/>
              </a:rPr>
              <a:t>18/18 backend API, ML triage, and state transition test suites verified.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Proactive Duplicate Radar (&lt;600m): </a:t>
            </a:r>
            <a:r>
              <a:rPr sz="1050">
                <a:solidFill>
                  <a:srgbClr val="475569"/>
                </a:solidFill>
                <a:latin typeface="Arial"/>
              </a:rPr>
              <a:t>Haversine spatial clustering reduces ticket deluge by &gt;40%.</a:t>
            </a:r>
          </a:p>
          <a:p>
            <a:pPr lvl="1">
              <a:spcAft>
                <a:spcPts val="5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Closed-Loop Verification: </a:t>
            </a:r>
            <a:r>
              <a:rPr sz="1050">
                <a:solidFill>
                  <a:srgbClr val="475569"/>
                </a:solidFill>
                <a:latin typeface="Arial"/>
              </a:rPr>
              <a:t>Zero ghost closures via mandatory Before/After photo evidence &amp; citizen karma sign-off.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Project Links (Open Access, No Login Required):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GitHub Repository: </a:t>
            </a:r>
            <a:r>
              <a:rPr sz="1050">
                <a:solidFill>
                  <a:srgbClr val="475569"/>
                </a:solidFill>
                <a:latin typeface="Arial"/>
              </a:rPr>
              <a:t>https://github.com/laishramritikumarsingh/City-Saathi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Live Production Demo: </a:t>
            </a:r>
            <a:r>
              <a:rPr sz="1050">
                <a:solidFill>
                  <a:srgbClr val="475569"/>
                </a:solidFill>
                <a:latin typeface="Arial"/>
              </a:rPr>
              <a:t>https://citysaathi.netlify.app/</a:t>
            </a:r>
          </a:p>
        </p:txBody>
      </p:sp>
      <p:pic>
        <p:nvPicPr>
          <p:cNvPr id="70" name="Picture 69" descr="slide_hom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4206240" cy="225467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223760" y="4892040"/>
            <a:ext cx="4206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0000"/>
                </a:solidFill>
                <a:latin typeface="Arial"/>
              </a:defRPr>
            </a:pPr>
            <a:r>
              <a:t>CitySaathi Production Interface (citysaathi.netlify.app)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Live full-stack civic governance platform featuring automated routing, duplicate prevention, and citizen verification loops.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Key Features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22960" y="1554480"/>
            <a:ext cx="594360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indent="-146050" algn="l" rtl="0"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buSzPts val="2000"/>
              <a:buFont typeface="Noto Sans Symbols"/>
              <a:buChar char="▪"/>
            </a:pPr>
            <a:r>
              <a:rPr b="1" sz="1100">
                <a:solidFill>
                  <a:srgbClr val="C00000"/>
                </a:solidFill>
                <a:latin typeface="Arial"/>
              </a:rPr>
              <a:t>[Strongest Work] 1. AI Triage &amp; Classification Engine: </a:t>
            </a:r>
            <a:r>
              <a:rPr b="0" sz="1100">
                <a:solidFill>
                  <a:srgbClr val="0F172A"/>
                </a:solidFill>
                <a:latin typeface="Arial"/>
              </a:rPr>
              <a:t>Real-time TF-IDF centroid classifier and Gemini 2.5 API auto-assign complaints to municipal agencies (BBMP, BESCOM, BWSSB) with 84% accuracy as citizen types.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[Strongest Work] 2. Spatial Duplicate Radar (&lt;600m): </a:t>
            </a:r>
            <a:r>
              <a:rPr b="0" sz="1100">
                <a:solidFill>
                  <a:srgbClr val="0F172A"/>
                </a:solidFill>
                <a:latin typeface="Arial"/>
              </a:rPr>
              <a:t>Combines Haversine spatial proximity (&lt;600m) with TF-IDF cosine text similarity to detect duplicate reports before submission, enabling upvotes instead of duplicate tickets.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3. Explainable Multi-Factor Priority Engine: </a:t>
            </a:r>
            <a:r>
              <a:rPr b="0" sz="1100">
                <a:solidFill>
                  <a:srgbClr val="0F172A"/>
                </a:solidFill>
                <a:latin typeface="Arial"/>
              </a:rPr>
              <a:t>Dynamically computes urgency scores (1-10) using transparent weights: safety hazards, transit corridors, and school/hospital proximity.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4. Closed-Loop Photographic Verification: </a:t>
            </a:r>
            <a:r>
              <a:rPr b="0" sz="1100">
                <a:solidFill>
                  <a:srgbClr val="0F172A"/>
                </a:solidFill>
                <a:latin typeface="Arial"/>
              </a:rPr>
              <a:t>Mandates 'After' repair evidence photos from municipal crews; citizens verify resolution ('Fixed' vs 'Not Fixed') to earn Saathi Karma, eliminating ghost closures.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C00000"/>
                </a:solidFill>
                <a:latin typeface="Arial"/>
              </a:rPr>
              <a:t>5. GIS Heatmap &amp; Authority Command Center: </a:t>
            </a:r>
            <a:r>
              <a:rPr b="0" sz="1100">
                <a:solidFill>
                  <a:srgbClr val="0F172A"/>
                </a:solidFill>
                <a:latin typeface="Arial"/>
              </a:rPr>
              <a:t>Interactive Leaflet/OpenStreetMap geospatial visualization with ward clustering, SLA countdowns, and 1-click master-ticket duplicate consolidation.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C00000"/>
                </a:solidFill>
                <a:latin typeface="Arial"/>
              </a:rPr>
              <a:t>Honest System Status &amp; Boundaries: </a:t>
            </a:r>
            <a:r>
              <a:rPr b="0" sz="115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Complete: </a:t>
            </a:r>
            <a:r>
              <a:rPr sz="1000">
                <a:solidFill>
                  <a:srgbClr val="475569"/>
                </a:solidFill>
                <a:latin typeface="Arial"/>
              </a:rPr>
              <a:t>Citizen 4-step wizard, AI routing, duplicate radar, GIS map, authority triage &amp; verification loop.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In Progress / Future: </a:t>
            </a:r>
            <a:r>
              <a:rPr sz="1000">
                <a:solidFill>
                  <a:srgbClr val="475569"/>
                </a:solidFill>
                <a:latin typeface="Arial"/>
              </a:rPr>
              <a:t>Automated computer-vision pothole depth estimation and WhatsApp citizen alerts gateway.</a:t>
            </a:r>
          </a:p>
        </p:txBody>
      </p:sp>
      <p:pic>
        <p:nvPicPr>
          <p:cNvPr id="70" name="Picture 69" descr="slide_gi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72768"/>
            <a:ext cx="4297680" cy="2303687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040880" y="3611880"/>
            <a:ext cx="429768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 b="1">
                <a:solidFill>
                  <a:srgbClr val="C00000"/>
                </a:solidFill>
                <a:latin typeface="Arial"/>
              </a:defRPr>
            </a:pPr>
            <a:r>
              <a:t>Interactive GIS Leaflet Heatmap &amp; Ward Issue Pins</a:t>
            </a:r>
          </a:p>
        </p:txBody>
      </p:sp>
      <p:pic>
        <p:nvPicPr>
          <p:cNvPr id="72" name="Picture 71" descr="slide_verification_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023360"/>
            <a:ext cx="4297680" cy="230368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040880" y="6080760"/>
            <a:ext cx="429768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950" b="1">
                <a:solidFill>
                  <a:srgbClr val="C00000"/>
                </a:solidFill>
                <a:latin typeface="Arial"/>
              </a:defRPr>
            </a:pPr>
            <a:r>
              <a:t>Closed-Loop Citizen Verification &amp; Before/After Proof Photos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Technology Stack &amp; Implementation</a:t>
            </a:r>
            <a:endParaRPr sz="24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22960" y="1554480"/>
            <a:ext cx="5303520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5080" indent="0" algn="l" rtl="0">
              <a:lnSpc>
                <a:spcPct val="130000"/>
              </a:lnSpc>
              <a:spcBef>
                <a:spcPts val="1000"/>
              </a:spcBef>
              <a:spcAft>
                <a:spcPts val="300"/>
              </a:spcAft>
              <a:buNone/>
            </a:pPr>
            <a:r>
              <a:rPr b="1" sz="1200">
                <a:solidFill>
                  <a:srgbClr val="C00000"/>
                </a:solidFill>
                <a:latin typeface="Arial"/>
              </a:rPr>
              <a:t>Technology Stack &amp; Architectural Choices: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Frontend Web: </a:t>
            </a:r>
            <a:r>
              <a:rPr sz="1000">
                <a:solidFill>
                  <a:srgbClr val="475569"/>
                </a:solidFill>
                <a:latin typeface="Arial"/>
              </a:rPr>
              <a:t>HTML5, CSS3, JavaScript ES6+, Leaflet.js / OSM (Zero API cost, lightweight mobile-first UI).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Backend Core: </a:t>
            </a:r>
            <a:r>
              <a:rPr sz="1000">
                <a:solidFill>
                  <a:srgbClr val="475569"/>
                </a:solidFill>
                <a:latin typeface="Arial"/>
              </a:rPr>
              <a:t>Node.js, Express 5.x, Netlify Functions (Asynchronous non-blocking event loop, serverless scalability).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Database &amp; ORM: </a:t>
            </a:r>
            <a:r>
              <a:rPr sz="1000">
                <a:solidFill>
                  <a:srgbClr val="475569"/>
                </a:solidFill>
                <a:latin typeface="Arial"/>
              </a:rPr>
              <a:t>Prisma ORM 6.4.1, SQLite / PostgreSQL (Type-safe migrations, zero SQL injection risk).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AI Microservice: </a:t>
            </a:r>
            <a:r>
              <a:rPr sz="1000">
                <a:solidFill>
                  <a:srgbClr val="475569"/>
                </a:solidFill>
                <a:latin typeface="Arial"/>
              </a:rPr>
              <a:t>Python 3 FastAPI, TF-IDF Classifier, Gemini 2.5 Flash (Instant offline centroid fallback + deep GenAI).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DevOps &amp; Tooling: </a:t>
            </a:r>
            <a:r>
              <a:rPr sz="1000">
                <a:solidFill>
                  <a:srgbClr val="475569"/>
                </a:solidFill>
                <a:latin typeface="Arial"/>
              </a:rPr>
              <a:t>Git, GitHub CI/CD, Netlify CDN, npm, PowerShell.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Implementation Steps (Design, Build, Test):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1. Design: </a:t>
            </a:r>
            <a:r>
              <a:rPr sz="1000">
                <a:solidFill>
                  <a:srgbClr val="475569"/>
                </a:solidFill>
                <a:latin typeface="Arial"/>
              </a:rPr>
              <a:t>Wireframed 4-step reporting wizard and municipal command center.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2. Build: </a:t>
            </a:r>
            <a:r>
              <a:rPr sz="1000">
                <a:solidFill>
                  <a:srgbClr val="475569"/>
                </a:solidFill>
                <a:latin typeface="Arial"/>
              </a:rPr>
              <a:t>Built REST controllers, Leaflet GIS mapping, and TF-IDF vectors.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3. Test: </a:t>
            </a:r>
            <a:r>
              <a:rPr sz="1000">
                <a:solidFill>
                  <a:srgbClr val="475569"/>
                </a:solidFill>
                <a:latin typeface="Arial"/>
              </a:rPr>
              <a:t>18 automated Mocha/Chai/Jest &amp; FastAPI test suites passing 100%.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Key Technical Challenge Solved: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0F172A"/>
                </a:solidFill>
                <a:latin typeface="Arial"/>
              </a:rPr>
              <a:t>Challenge: Detecting duplicates when complaints have diverse phrasing (e.g. 'huge road crater' vs 'broken tarmac near signal').</a:t>
            </a:r>
          </a:p>
          <a:p>
            <a:r>
              <a:rPr sz="1000" b="1">
                <a:solidFill>
                  <a:srgbClr val="C00000"/>
                </a:solidFill>
                <a:latin typeface="Arial"/>
              </a:rPr>
              <a:t>Solution: Built a two-tier filter combining Haversine bounding (&lt;600m) with cosine TF-IDF similarity, achieving 92%+ duplicate clustering precision without false matches.</a:t>
            </a:r>
          </a:p>
        </p:txBody>
      </p:sp>
      <p:pic>
        <p:nvPicPr>
          <p:cNvPr id="70" name="Picture 69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029200" cy="276606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309360" y="4572000"/>
            <a:ext cx="50292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0000"/>
                </a:solidFill>
                <a:latin typeface="Arial"/>
              </a:defRPr>
            </a:pPr>
            <a:r>
              <a:t>Placement Dossier Skill Alignment &amp; Verification Proof: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Full-Stack JS: 4,200+ lines in script.js, Express controllers in src/controllers/</a:t>
            </a:r>
            <a:br/>
            <a:r>
              <a:t>• Microservices &amp; Python: FastAPI service &amp; tests in ai-service/</a:t>
            </a:r>
            <a:br/>
            <a:r>
              <a:t>• Cloud &amp; Serverless: netlify.toml and Netlify functions in netlify/functions/api.js</a:t>
            </a:r>
            <a:br/>
            <a:r>
              <a:t>• Automated QA: 18 passing suites in test/api.test.js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 h="120000" extrusionOk="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9661525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My Individual Contribution &amp; Learnings</a:t>
            </a:r>
            <a:endParaRPr sz="2800"/>
          </a:p>
        </p:txBody>
      </p:sp>
      <p:sp>
        <p:nvSpPr>
          <p:cNvPr id="67" name="Google Shape;67;p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68" name="Google Shape;68;p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  <p:sp>
        <p:nvSpPr>
          <p:cNvPr id="69" name="Google Shape;69;p9"/>
          <p:cNvSpPr txBox="1"/>
          <p:nvPr/>
        </p:nvSpPr>
        <p:spPr>
          <a:xfrm>
            <a:off x="822960" y="1554480"/>
            <a:ext cx="5120640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4140" marR="5080" indent="-146050" algn="l" rtl="0">
              <a:lnSpc>
                <a:spcPct val="130000"/>
              </a:lnSpc>
              <a:spcBef>
                <a:spcPts val="600"/>
              </a:spcBef>
              <a:spcAft>
                <a:spcPts val="300"/>
              </a:spcAft>
              <a:buSzPts val="2000"/>
              <a:buFont typeface="Noto Sans Symbols"/>
              <a:buChar char="▪"/>
            </a:pPr>
            <a:r>
              <a:rPr b="1" sz="1200">
                <a:solidFill>
                  <a:srgbClr val="C00000"/>
                </a:solidFill>
                <a:latin typeface="Arial"/>
              </a:rPr>
              <a:t>My Individual Role &amp; Core Contributions: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Citizen Web Portal UI/UX: </a:t>
            </a:r>
            <a:r>
              <a:rPr sz="1050">
                <a:solidFill>
                  <a:srgbClr val="475569"/>
                </a:solidFill>
                <a:latin typeface="Arial"/>
              </a:rPr>
              <a:t>Designed and coded the entire 4-step reporting wizard and responsive mobile layout.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Leaflet.js GIS Integration: </a:t>
            </a:r>
            <a:r>
              <a:rPr sz="1050">
                <a:solidFill>
                  <a:srgbClr val="475569"/>
                </a:solidFill>
                <a:latin typeface="Arial"/>
              </a:rPr>
              <a:t>Implemented interactive OpenStreetMap layers, GPS auto-detect, and custom SVG markers.</a:t>
            </a:r>
          </a:p>
          <a:p>
            <a:pPr lvl="1"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Client AI Triage &amp; Duplicate UI: </a:t>
            </a:r>
            <a:r>
              <a:rPr sz="1050">
                <a:solidFill>
                  <a:srgbClr val="475569"/>
                </a:solidFill>
                <a:latin typeface="Arial"/>
              </a:rPr>
              <a:t>Engineered live debounced duplicate radar popups and priority factor visualizations.</a:t>
            </a:r>
          </a:p>
          <a:p>
            <a:pPr lvl="1"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Cloud Deployment &amp; Git Lead: </a:t>
            </a:r>
            <a:r>
              <a:rPr sz="1050">
                <a:solidFill>
                  <a:srgbClr val="475569"/>
                </a:solidFill>
                <a:latin typeface="Arial"/>
              </a:rPr>
              <a:t>Configured Netlify serverless deployment, repo synchronization, and production builds.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Team Project Work Division: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Ritikumar (Myself): </a:t>
            </a:r>
            <a:r>
              <a:rPr sz="1000">
                <a:solidFill>
                  <a:srgbClr val="475569"/>
                </a:solidFill>
                <a:latin typeface="Arial"/>
              </a:rPr>
              <a:t>Frontend portal, Web GIS, duplicate UI alerts, Netlify deployment, and GitHub CI.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Teammate 1 (Backend &amp; DB): </a:t>
            </a:r>
            <a:r>
              <a:rPr sz="1000">
                <a:solidFill>
                  <a:srgbClr val="475569"/>
                </a:solidFill>
                <a:latin typeface="Arial"/>
              </a:rPr>
              <a:t>Express API endpoints, Prisma ORM schema design, and database seeding.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Teammate 2 (AI/ML Service): </a:t>
            </a:r>
            <a:r>
              <a:rPr sz="1000">
                <a:solidFill>
                  <a:srgbClr val="475569"/>
                </a:solidFill>
                <a:latin typeface="Arial"/>
              </a:rPr>
              <a:t>FastAPI microservice, TF-IDF centroid weights, and Gemini prompts.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1554480"/>
            <a:ext cx="51206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Skills Proved &amp; Repository Proof: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Advanced JavaScript: </a:t>
            </a:r>
            <a:r>
              <a:rPr sz="1000">
                <a:solidFill>
                  <a:srgbClr val="475569"/>
                </a:solidFill>
                <a:latin typeface="Arial"/>
              </a:rPr>
              <a:t>script.js (4,200+ lines of modular, clean state-managed code).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Web GIS &amp; Geolocation: </a:t>
            </a:r>
            <a:r>
              <a:rPr sz="1000">
                <a:solidFill>
                  <a:srgbClr val="475569"/>
                </a:solidFill>
                <a:latin typeface="Arial"/>
              </a:rPr>
              <a:t>Leaflet coordinate mapping and spatial clustering in script.js.</a:t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Serverless CI/CD: </a:t>
            </a:r>
            <a:r>
              <a:rPr sz="1000">
                <a:solidFill>
                  <a:srgbClr val="475569"/>
                </a:solidFill>
                <a:latin typeface="Arial"/>
              </a:rPr>
              <a:t>netlify.toml and netlify/functions/api.js configuration.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Verification Testing: </a:t>
            </a:r>
            <a:r>
              <a:rPr sz="1000">
                <a:solidFill>
                  <a:srgbClr val="475569"/>
                </a:solidFill>
                <a:latin typeface="Arial"/>
              </a:rPr>
              <a:t>test/api.test.js and test/e2e_verification.js QA passes.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C00000"/>
                </a:solidFill>
                <a:latin typeface="Arial"/>
              </a:rPr>
              <a:t>Key Learnings &amp; What I Would Improve Next: </a:t>
            </a:r>
            <a:r>
              <a:rPr b="0" sz="1200">
                <a:solidFill>
                  <a:srgbClr val="0F172A"/>
                </a:solidFill>
                <a:latin typeface="Arial"/>
              </a:rPr>
              <a:t/>
            </a:r>
          </a:p>
          <a:p>
            <a:pPr lvl="1"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Key Learnings: </a:t>
            </a:r>
            <a:r>
              <a:rPr sz="1000">
                <a:solidFill>
                  <a:srgbClr val="475569"/>
                </a:solidFill>
                <a:latin typeface="Arial"/>
              </a:rPr>
              <a:t>Handling spatial bounding queries, asynchronous REST synchronization, and client fallback ML.</a:t>
            </a:r>
          </a:p>
          <a:p>
            <a:pPr lvl="1"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Next Improvements: </a:t>
            </a:r>
            <a:r>
              <a:rPr sz="1000">
                <a:solidFill>
                  <a:srgbClr val="475569"/>
                </a:solidFill>
                <a:latin typeface="Arial"/>
              </a:rPr>
              <a:t>Build an offline-first Progressive Web App (PWA) with service workers and automated WhatsApp alerts.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 b="1">
                <a:solidFill>
                  <a:srgbClr val="C00000"/>
                </a:solidFill>
                <a:latin typeface="Arial"/>
              </a:defRPr>
            </a:pPr>
            <a:r>
              <a:t>Note: Ready to explain code architecture or demonstrate live feature modifications during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1214437" y="4348226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 h="120000" extrusionOk="0">
                <a:moveTo>
                  <a:pt x="0" y="0"/>
                </a:moveTo>
                <a:lnTo>
                  <a:pt x="9875456" y="0"/>
                </a:lnTo>
              </a:path>
            </a:pathLst>
          </a:custGeom>
          <a:noFill/>
          <a:ln w="9525" cap="flat" cmpd="sng">
            <a:solidFill>
              <a:srgbClr val="7E7E7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29"/>
          <p:cNvSpPr txBox="1"/>
          <p:nvPr>
            <p:ph type="title"/>
          </p:nvPr>
        </p:nvSpPr>
        <p:spPr>
          <a:xfrm>
            <a:off x="1176976" y="2994025"/>
            <a:ext cx="6633600" cy="11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 b="0">
                <a:solidFill>
                  <a:srgbClr val="25252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73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1" name="Google Shape;251;p29"/>
          <p:cNvSpPr txBox="1"/>
          <p:nvPr>
            <p:ph type="sldNum" idx="12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52" name="Google Shape;252;p29"/>
          <p:cNvSpPr txBox="1"/>
          <p:nvPr>
            <p:ph type="dt" idx="10"/>
          </p:nvPr>
        </p:nvSpPr>
        <p:spPr>
          <a:xfrm>
            <a:off x="1176972" y="6589394"/>
            <a:ext cx="1200000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787878"/>
                </a:solidFill>
                <a:latin typeface="Times New Roman"/>
              </a:defRPr>
            </a:pPr>
            <a:r>
              <a:t>29-10-2026</a:t>
            </a:r>
            <a:endParaRPr lang="en-US"/>
          </a:p>
        </p:txBody>
      </p:sp>
      <p:sp>
        <p:nvSpPr>
          <p:cNvPr id="253" name="TextBox 252"/>
          <p:cNvSpPr txBox="1"/>
          <p:nvPr/>
        </p:nvSpPr>
        <p:spPr>
          <a:xfrm>
            <a:off x="1097280" y="3931920"/>
            <a:ext cx="9601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C00000"/>
                </a:solidFill>
                <a:latin typeface="Times New Roman"/>
              </a:defRPr>
            </a:pPr>
            <a:r>
              <a:t>CitySaathi: AI-Powered Civic Complaint Management &amp; Resolution Verification System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Presenter: Laishram Ritikumar Singh | Department of Computer Applications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Alliance University, Bengaluru | NAAC Grade A+ Accredited</a:t>
            </a:r>
          </a:p>
          <a:p>
            <a:pPr>
              <a:defRPr sz="1300" b="1">
                <a:solidFill>
                  <a:srgbClr val="0284C7"/>
                </a:solidFill>
                <a:latin typeface="Arial"/>
              </a:defRPr>
            </a:pPr>
            <a:r>
              <a:t>Live Demo: https://citysaathi.netlify.app/   |   GitHub: https://github.com/laishramritikumarsingh/City-Saathi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WPS Presentation</Application>
  <PresentationFormat/>
  <Paragraphs>122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Calibri</vt:lpstr>
      <vt:lpstr>Noto Sans Symbols</vt:lpstr>
      <vt:lpstr>Segoe Print</vt:lpstr>
      <vt:lpstr>Microsoft YaHei</vt:lpstr>
      <vt:lpstr>Arial Unicode MS</vt:lpstr>
      <vt:lpstr>Office Theme</vt:lpstr>
      <vt:lpstr>    Department of Computer Applications</vt:lpstr>
      <vt:lpstr>Introduction</vt:lpstr>
      <vt:lpstr>Importance of the project</vt:lpstr>
      <vt:lpstr>Objectives</vt:lpstr>
      <vt:lpstr>Why This Project Matters</vt:lpstr>
      <vt:lpstr>Challenges Being Addressed</vt:lpstr>
      <vt:lpstr>Related Work</vt:lpstr>
      <vt:lpstr>Methods &amp; Technologies</vt:lpstr>
      <vt:lpstr>Step-wise Development Process</vt:lpstr>
      <vt:lpstr>Conclusion</vt:lpstr>
      <vt:lpstr>Limitations &amp; Possible Improvements</vt:lpstr>
      <vt:lpstr>References</vt:lpstr>
      <vt:lpstr>Acknowledgements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Department of Computer Applications</dc:title>
  <dc:creator/>
  <cp:lastModifiedBy>user</cp:lastModifiedBy>
  <cp:revision>1</cp:revision>
  <dcterms:created xsi:type="dcterms:W3CDTF">2026-08-10T05:24:57Z</dcterms:created>
  <dcterms:modified xsi:type="dcterms:W3CDTF">2026-08-10T05:24:57Z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D8A8DC4002F644969106451638560B03_12</vt:lpwstr>
  </property>
  <property fmtid="{D5CDD505-2E9C-101B-9397-08002B2CF9AE}" pid="3" name="KSOProductBuildVer">
    <vt:lpwstr>1033-12.1.0.28032</vt:lpwstr>
  </property>
</Properties>
</file>